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solidFill>
              <a:srgbClr val="0B0F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114800" y="822960"/>
            <a:ext cx="3959352" cy="411480"/>
          </a:xfrm>
          <a:prstGeom prst="roundRect">
            <a:avLst/>
          </a:prstGeom>
          <a:solidFill>
            <a:srgbClr val="0F233C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38BDF8"/>
                </a:solidFill>
              </a:defRPr>
            </a:pPr>
            <a:r>
              <a:t>OPERATING SYSTEMS PROJECT REVIEW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371600"/>
            <a:ext cx="10360152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38BDF8"/>
                </a:solidFill>
              </a:defRPr>
            </a:pPr>
            <a:r>
              <a:t>Mini-Container Runtime</a:t>
            </a:r>
          </a:p>
          <a:p>
            <a:pPr algn="ctr">
              <a:spcBef>
                <a:spcPts val="1000"/>
              </a:spcBef>
              <a:defRPr sz="1700">
                <a:solidFill>
                  <a:srgbClr val="94A3B8"/>
                </a:solidFill>
              </a:defRPr>
            </a:pPr>
            <a:r>
              <a:t>A Lightweight Linux Container Virtualization Engine Built from Scratch in C99</a:t>
            </a:r>
            <a:br/>
            <a:r>
              <a:t>Using Linux Namespaces and Unified Cgroups v2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011680" y="3383280"/>
            <a:ext cx="3840480" cy="1920240"/>
          </a:xfrm>
          <a:prstGeom prst="roundRect">
            <a:avLst/>
          </a:prstGeom>
          <a:solidFill>
            <a:srgbClr val="151D30"/>
          </a:solidFill>
          <a:ln w="254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818CF8"/>
                </a:solidFill>
              </a:defRPr>
            </a:pPr>
            <a:r>
              <a:t>TEAM MEMBER 1</a:t>
            </a:r>
          </a:p>
          <a:p>
            <a:pPr>
              <a:defRPr sz="1900" b="1">
                <a:solidFill>
                  <a:srgbClr val="F1F5F9"/>
                </a:solidFill>
              </a:defRPr>
            </a:pPr>
            <a:r>
              <a:t>Tharakesha M</a:t>
            </a:r>
          </a:p>
          <a:p>
            <a:pPr>
              <a:spcBef>
                <a:spcPts val="400"/>
              </a:spcBef>
              <a:defRPr sz="1200">
                <a:solidFill>
                  <a:srgbClr val="38BDF8"/>
                </a:solidFill>
              </a:defRPr>
            </a:pPr>
            <a:r>
              <a:t>Reg No: 24BCE2538</a:t>
            </a:r>
            <a:br/>
            <a:r>
              <a:t>B.Tech Computer Science &amp; Engineering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309360" y="3383280"/>
            <a:ext cx="3840480" cy="1920240"/>
          </a:xfrm>
          <a:prstGeom prst="roundRect">
            <a:avLst/>
          </a:prstGeom>
          <a:solidFill>
            <a:srgbClr val="151D30"/>
          </a:solidFill>
          <a:ln w="25400">
            <a:solidFill>
              <a:srgbClr val="818C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818CF8"/>
                </a:solidFill>
              </a:defRPr>
            </a:pPr>
            <a:r>
              <a:t>TEAM MEMBER 2</a:t>
            </a:r>
          </a:p>
          <a:p>
            <a:pPr>
              <a:defRPr sz="1900" b="1">
                <a:solidFill>
                  <a:srgbClr val="F1F5F9"/>
                </a:solidFill>
              </a:defRPr>
            </a:pPr>
            <a:r>
              <a:t>Mathu Metha S</a:t>
            </a:r>
          </a:p>
          <a:p>
            <a:pPr>
              <a:spcBef>
                <a:spcPts val="400"/>
              </a:spcBef>
              <a:defRPr sz="1200">
                <a:solidFill>
                  <a:srgbClr val="818CF8"/>
                </a:solidFill>
              </a:defRPr>
            </a:pPr>
            <a:r>
              <a:t>Reg No: 24BCE2805</a:t>
            </a:r>
            <a:br/>
            <a:r>
              <a:t>B.Tech Computer Science &amp; Engineering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5760720"/>
            <a:ext cx="10360152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>
                <a:solidFill>
                  <a:srgbClr val="38BDF8"/>
                </a:solidFill>
              </a:defRPr>
            </a:pPr>
            <a:r>
              <a:t>Repository: https://github.com/THARAKESHA/mini-container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solidFill>
              <a:srgbClr val="0B0F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818CF8"/>
                </a:solidFill>
              </a:defRPr>
            </a:pPr>
            <a:r>
              <a:t>CONCEPT &amp; OBJECTIVES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1F5F9"/>
                </a:solidFill>
              </a:defRPr>
            </a:pPr>
            <a:r>
              <a:t>Motivation: Containers vs. Virtual Machines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325880"/>
            <a:ext cx="10698480" cy="18288"/>
          </a:xfrm>
          <a:prstGeom prst="rect">
            <a:avLst/>
          </a:prstGeom>
          <a:solidFill>
            <a:srgbClr val="243354"/>
          </a:solidFill>
          <a:ln>
            <a:solidFill>
              <a:srgbClr val="2433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5120640" cy="4480560"/>
          </a:xfrm>
          <a:prstGeom prst="roundRect">
            <a:avLst/>
          </a:prstGeom>
          <a:solidFill>
            <a:srgbClr val="151D30"/>
          </a:solidFill>
          <a:ln w="19050">
            <a:solidFill>
              <a:srgbClr val="2433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28800"/>
            <a:ext cx="47548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F59E0B"/>
                </a:solidFill>
              </a:defRPr>
            </a:pPr>
            <a:r>
              <a:t>Traditional Virtual Machines (VMs)</a:t>
            </a:r>
          </a:p>
          <a:p>
            <a:pPr>
              <a:spcAft>
                <a:spcPts val="800"/>
              </a:spcAft>
              <a:defRPr sz="1300">
                <a:solidFill>
                  <a:srgbClr val="F1F5F9"/>
                </a:solidFill>
              </a:defRPr>
            </a:pPr>
            <a:r>
              <a:t>•  Virtualize the hardware layer using a hypervisor (Type-1/Type-2).</a:t>
            </a:r>
          </a:p>
          <a:p>
            <a:pPr>
              <a:spcAft>
                <a:spcPts val="800"/>
              </a:spcAft>
              <a:defRPr sz="1300">
                <a:solidFill>
                  <a:srgbClr val="F1F5F9"/>
                </a:solidFill>
              </a:defRPr>
            </a:pPr>
            <a:r>
              <a:t>•  Requires a separate, complete guest OS kernel per virtual machine.</a:t>
            </a:r>
          </a:p>
          <a:p>
            <a:pPr>
              <a:spcAft>
                <a:spcPts val="800"/>
              </a:spcAft>
              <a:defRPr sz="1300">
                <a:solidFill>
                  <a:srgbClr val="F1F5F9"/>
                </a:solidFill>
              </a:defRPr>
            </a:pPr>
            <a:r>
              <a:t>•  High memory footprint (Gigabytes) and slow multi-second boot latency.</a:t>
            </a:r>
          </a:p>
          <a:p>
            <a:pPr>
              <a:spcAft>
                <a:spcPts val="800"/>
              </a:spcAft>
              <a:defRPr sz="1300">
                <a:solidFill>
                  <a:srgbClr val="F1F5F9"/>
                </a:solidFill>
              </a:defRPr>
            </a:pPr>
            <a:r>
              <a:t>•  Incurs hardware emulation translation penalties and CPU overhead.</a:t>
            </a:r>
          </a:p>
          <a:p>
            <a:pPr>
              <a:spcAft>
                <a:spcPts val="800"/>
              </a:spcAft>
              <a:defRPr sz="1300">
                <a:solidFill>
                  <a:srgbClr val="F1F5F9"/>
                </a:solidFill>
              </a:defRPr>
            </a:pPr>
            <a:r>
              <a:t>•  Resource limits are rigid and coarse-grained.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645920"/>
            <a:ext cx="5120640" cy="4480560"/>
          </a:xfrm>
          <a:prstGeom prst="roundRect">
            <a:avLst/>
          </a:prstGeom>
          <a:solidFill>
            <a:srgbClr val="151D30"/>
          </a:solidFill>
          <a:ln w="19050">
            <a:solidFill>
              <a:srgbClr val="2433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1828800"/>
            <a:ext cx="47548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34D399"/>
                </a:solidFill>
              </a:defRPr>
            </a:pPr>
            <a:r>
              <a:t>OS-Level Containers (mini-container)</a:t>
            </a:r>
          </a:p>
          <a:p>
            <a:pPr>
              <a:spcAft>
                <a:spcPts val="800"/>
              </a:spcAft>
              <a:defRPr sz="1300">
                <a:solidFill>
                  <a:srgbClr val="F1F5F9"/>
                </a:solidFill>
              </a:defRPr>
            </a:pPr>
            <a:r>
              <a:t>•  Shares the single underlying host Linux kernel with zero emulation.</a:t>
            </a:r>
          </a:p>
          <a:p>
            <a:pPr>
              <a:spcAft>
                <a:spcPts val="800"/>
              </a:spcAft>
              <a:defRPr sz="1300">
                <a:solidFill>
                  <a:srgbClr val="F1F5F9"/>
                </a:solidFill>
              </a:defRPr>
            </a:pPr>
            <a:r>
              <a:t>•  Containers are regular OS processes wrapped in kernel-enforced boundaries.</a:t>
            </a:r>
          </a:p>
          <a:p>
            <a:pPr>
              <a:spcAft>
                <a:spcPts val="800"/>
              </a:spcAft>
              <a:defRPr sz="1300">
                <a:solidFill>
                  <a:srgbClr val="F1F5F9"/>
                </a:solidFill>
              </a:defRPr>
            </a:pPr>
            <a:r>
              <a:t>•  Sub-second boot times (10-20ms) and minimal RAM overhead (Megabytes).</a:t>
            </a:r>
          </a:p>
          <a:p>
            <a:pPr>
              <a:spcAft>
                <a:spcPts val="800"/>
              </a:spcAft>
              <a:defRPr sz="1300">
                <a:solidFill>
                  <a:srgbClr val="F1F5F9"/>
                </a:solidFill>
              </a:defRPr>
            </a:pPr>
            <a:r>
              <a:t>•  Near-native bare-metal execution performance.</a:t>
            </a:r>
          </a:p>
          <a:p>
            <a:pPr>
              <a:spcAft>
                <a:spcPts val="800"/>
              </a:spcAft>
              <a:defRPr sz="1300">
                <a:solidFill>
                  <a:srgbClr val="F1F5F9"/>
                </a:solidFill>
              </a:defRPr>
            </a:pPr>
            <a:r>
              <a:t>•  Cgroups v2 enforces dynamic CPU quotas, memory ceilings, and task limits.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solidFill>
              <a:srgbClr val="0B0F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818CF8"/>
                </a:solidFill>
              </a:defRPr>
            </a:pPr>
            <a:r>
              <a:t>COURSE OUTCOMES MATRIX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1F5F9"/>
                </a:solidFill>
              </a:defRPr>
            </a:pPr>
            <a:r>
              <a:t>Syllabus Alignment: Complete CO 1 to CO 5 Coverage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325880"/>
            <a:ext cx="10698480" cy="18288"/>
          </a:xfrm>
          <a:prstGeom prst="rect">
            <a:avLst/>
          </a:prstGeom>
          <a:solidFill>
            <a:srgbClr val="243354"/>
          </a:solidFill>
          <a:ln>
            <a:solidFill>
              <a:srgbClr val="2433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1645920"/>
          <a:ext cx="10698480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4114800"/>
                <a:gridCol w="3657600"/>
              </a:tblGrid>
              <a:tr h="73152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38BDF8"/>
                          </a:solidFill>
                        </a:defRPr>
                      </a:pPr>
                      <a:r>
                        <a:t>Course Outcome (CO)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38BDF8"/>
                          </a:solidFill>
                        </a:defRPr>
                      </a:pPr>
                      <a:r>
                        <a:t>Syllabus Topics Covered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38BDF8"/>
                          </a:solidFill>
                        </a:defRPr>
                      </a:pPr>
                      <a:r>
                        <a:t>Implementation Mechanism in C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1F5F9"/>
                          </a:solidFill>
                        </a:defRPr>
                      </a:pPr>
                      <a:r>
                        <a:t>CO: 1 OS Principles &amp; Processes</a:t>
                      </a:r>
                    </a:p>
                  </a:txBody>
                  <a:tcPr>
                    <a:solidFill>
                      <a:srgbClr val="151D3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1F5F9"/>
                          </a:solidFill>
                        </a:defRPr>
                      </a:pPr>
                      <a:r>
                        <a:t>System calls, User/Kernel modes, PCB, Process creation</a:t>
                      </a:r>
                    </a:p>
                  </a:txBody>
                  <a:tcPr>
                    <a:solidFill>
                      <a:srgbClr val="151D3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1F5F9"/>
                          </a:solidFill>
                        </a:defRPr>
                      </a:pPr>
                      <a:r>
                        <a:t>clone() with isolated stack, waitpid(), custom PCB</a:t>
                      </a:r>
                    </a:p>
                  </a:txBody>
                  <a:tcPr>
                    <a:solidFill>
                      <a:srgbClr val="151D30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1F5F9"/>
                          </a:solidFill>
                        </a:defRPr>
                      </a:pPr>
                      <a:r>
                        <a:t>CO: 2 CPU Scheduling</a:t>
                      </a:r>
                    </a:p>
                  </a:txBody>
                  <a:tcPr>
                    <a:solidFill>
                      <a:srgbClr val="151D3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1F5F9"/>
                          </a:solidFill>
                        </a:defRPr>
                      </a:pPr>
                      <a:r>
                        <a:t>CFS quotas, Preemption, Proportional Fair Share</a:t>
                      </a:r>
                    </a:p>
                  </a:txBody>
                  <a:tcPr>
                    <a:solidFill>
                      <a:srgbClr val="151D3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1F5F9"/>
                          </a:solidFill>
                        </a:defRPr>
                      </a:pPr>
                      <a:r>
                        <a:t>cgroups cpu.max (40% quota) &amp; cpu.weight (4:1 contest)</a:t>
                      </a:r>
                    </a:p>
                  </a:txBody>
                  <a:tcPr>
                    <a:solidFill>
                      <a:srgbClr val="151D30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1F5F9"/>
                          </a:solidFill>
                        </a:defRPr>
                      </a:pPr>
                      <a:r>
                        <a:t>CO: 3 Concurrency &amp; IPC</a:t>
                      </a:r>
                    </a:p>
                  </a:txBody>
                  <a:tcPr>
                    <a:solidFill>
                      <a:srgbClr val="151D3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1F5F9"/>
                          </a:solidFill>
                        </a:defRPr>
                      </a:pPr>
                      <a:r>
                        <a:t>Synchronization primitives, Semaphores, Shared Memory</a:t>
                      </a:r>
                    </a:p>
                  </a:txBody>
                  <a:tcPr>
                    <a:solidFill>
                      <a:srgbClr val="151D3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1F5F9"/>
                          </a:solidFill>
                        </a:defRPr>
                      </a:pPr>
                      <a:r>
                        <a:t>POSIX sem_t (mutex, empty, full) &amp; mmap ring buffer</a:t>
                      </a:r>
                    </a:p>
                  </a:txBody>
                  <a:tcPr>
                    <a:solidFill>
                      <a:srgbClr val="151D30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1F5F9"/>
                          </a:solidFill>
                        </a:defRPr>
                      </a:pPr>
                      <a:r>
                        <a:t>CO: 4 Memory Management</a:t>
                      </a:r>
                    </a:p>
                  </a:txBody>
                  <a:tcPr>
                    <a:solidFill>
                      <a:srgbClr val="151D3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1F5F9"/>
                          </a:solidFill>
                        </a:defRPr>
                      </a:pPr>
                      <a:r>
                        <a:t>Virtual memory, Demand paging, Page faults, OOM</a:t>
                      </a:r>
                    </a:p>
                  </a:txBody>
                  <a:tcPr>
                    <a:solidFill>
                      <a:srgbClr val="151D3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1F5F9"/>
                          </a:solidFill>
                        </a:defRPr>
                      </a:pPr>
                      <a:r>
                        <a:t>cgroups memory.max, pgfault tracking (7,705 faults), SIGKILL</a:t>
                      </a:r>
                    </a:p>
                  </a:txBody>
                  <a:tcPr>
                    <a:solidFill>
                      <a:srgbClr val="151D30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1F5F9"/>
                          </a:solidFill>
                        </a:defRPr>
                      </a:pPr>
                      <a:r>
                        <a:t>CO: 5 Virtualization &amp; Filesystems</a:t>
                      </a:r>
                    </a:p>
                  </a:txBody>
                  <a:tcPr>
                    <a:solidFill>
                      <a:srgbClr val="151D3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1F5F9"/>
                          </a:solidFill>
                        </a:defRPr>
                      </a:pPr>
                      <a:r>
                        <a:t>Container virtualization, Mount propagation, VFS</a:t>
                      </a:r>
                    </a:p>
                  </a:txBody>
                  <a:tcPr>
                    <a:solidFill>
                      <a:srgbClr val="151D3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1F5F9"/>
                          </a:solidFill>
                        </a:defRPr>
                      </a:pPr>
                      <a:r>
                        <a:t>Namespaces (PID, UTS, Mount, IPC), chroot(), private /proc</a:t>
                      </a:r>
                    </a:p>
                  </a:txBody>
                  <a:tcPr>
                    <a:solidFill>
                      <a:srgbClr val="151D3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solidFill>
              <a:srgbClr val="0B0F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818CF8"/>
                </a:solidFill>
              </a:defRPr>
            </a:pPr>
            <a:r>
              <a:t>PROCESS LIFECYCLE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1F5F9"/>
                </a:solidFill>
              </a:defRPr>
            </a:pPr>
            <a:r>
              <a:t>System Architecture &amp; Execution Flow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325880"/>
            <a:ext cx="10698480" cy="18288"/>
          </a:xfrm>
          <a:prstGeom prst="rect">
            <a:avLst/>
          </a:prstGeom>
          <a:solidFill>
            <a:srgbClr val="243354"/>
          </a:solidFill>
          <a:ln>
            <a:solidFill>
              <a:srgbClr val="2433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5120640" cy="4480560"/>
          </a:xfrm>
          <a:prstGeom prst="roundRect">
            <a:avLst/>
          </a:prstGeom>
          <a:solidFill>
            <a:srgbClr val="151D30"/>
          </a:solidFill>
          <a:ln w="19050">
            <a:solidFill>
              <a:srgbClr val="2433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28800"/>
            <a:ext cx="47548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38BDF8"/>
                </a:solidFill>
              </a:defRPr>
            </a:pPr>
            <a:r>
              <a:t>Execution Lifecycle Flow</a:t>
            </a:r>
          </a:p>
          <a:p>
            <a:pPr>
              <a:spcAft>
                <a:spcPts val="800"/>
              </a:spcAft>
              <a:defRPr sz="1300">
                <a:solidFill>
                  <a:srgbClr val="F1F5F9"/>
                </a:solidFill>
              </a:defRPr>
            </a:pPr>
            <a:r>
              <a:t>•  1. CLI Invocation: Parses arguments (--memory, --cpu, --pids, etc.)</a:t>
            </a:r>
          </a:p>
          <a:p>
            <a:pPr>
              <a:spcAft>
                <a:spcPts val="800"/>
              </a:spcAft>
              <a:defRPr sz="1300">
                <a:solidFill>
                  <a:srgbClr val="F1F5F9"/>
                </a:solidFill>
              </a:defRPr>
            </a:pPr>
            <a:r>
              <a:t>•  2. Host Parent: Allocates 1MB stack &amp; creates POSIX sync pipe.</a:t>
            </a:r>
          </a:p>
          <a:p>
            <a:pPr>
              <a:spcAft>
                <a:spcPts val="800"/>
              </a:spcAft>
              <a:defRPr sz="1300">
                <a:solidFill>
                  <a:srgbClr val="F1F5F9"/>
                </a:solidFill>
              </a:defRPr>
            </a:pPr>
            <a:r>
              <a:t>•  3. clone() Syscall: Dispatches child with CLONE_NEW* namespace flags.</a:t>
            </a:r>
          </a:p>
          <a:p>
            <a:pPr>
              <a:spcAft>
                <a:spcPts val="800"/>
              </a:spcAft>
              <a:defRPr sz="1300">
                <a:solidFill>
                  <a:srgbClr val="F1F5F9"/>
                </a:solidFill>
              </a:defRPr>
            </a:pPr>
            <a:r>
              <a:t>•  4. Cgroups Binding: Parent creates /sys/fs/cgroup/minicontainer-[PID].</a:t>
            </a:r>
          </a:p>
          <a:p>
            <a:pPr>
              <a:spcAft>
                <a:spcPts val="800"/>
              </a:spcAft>
              <a:defRPr sz="1300">
                <a:solidFill>
                  <a:srgbClr val="F1F5F9"/>
                </a:solidFill>
              </a:defRPr>
            </a:pPr>
            <a:r>
              <a:t>•  5. Sync Barrier: Parent signals child via pipe (eliminates race condition).</a:t>
            </a:r>
          </a:p>
          <a:p>
            <a:pPr>
              <a:spcAft>
                <a:spcPts val="800"/>
              </a:spcAft>
              <a:defRPr sz="1300">
                <a:solidFill>
                  <a:srgbClr val="F1F5F9"/>
                </a:solidFill>
              </a:defRPr>
            </a:pPr>
            <a:r>
              <a:t>•  6. Sandbox Init: Child sethostname(), chroot(), mounts private /proc.</a:t>
            </a:r>
          </a:p>
          <a:p>
            <a:pPr>
              <a:spcAft>
                <a:spcPts val="800"/>
              </a:spcAft>
              <a:defRPr sz="1300">
                <a:solidFill>
                  <a:srgbClr val="F1F5F9"/>
                </a:solidFill>
              </a:defRPr>
            </a:pPr>
            <a:r>
              <a:t>•  7. Execution: Child calls execvp(), becomes PID 1 inside container.</a:t>
            </a:r>
          </a:p>
          <a:p>
            <a:pPr>
              <a:spcAft>
                <a:spcPts val="800"/>
              </a:spcAft>
              <a:defRPr sz="1300">
                <a:solidFill>
                  <a:srgbClr val="F1F5F9"/>
                </a:solidFill>
              </a:defRPr>
            </a:pPr>
            <a:r>
              <a:t>•  8. Teardown: Parent waitpid() catches exit/OOM kill, cleans cgroups.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645920"/>
            <a:ext cx="5120640" cy="4480560"/>
          </a:xfrm>
          <a:prstGeom prst="roundRect">
            <a:avLst/>
          </a:prstGeom>
          <a:solidFill>
            <a:srgbClr val="151D30"/>
          </a:solidFill>
          <a:ln w="19050">
            <a:solidFill>
              <a:srgbClr val="2433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1828800"/>
            <a:ext cx="47548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818CF8"/>
                </a:solidFill>
              </a:defRPr>
            </a:pPr>
            <a:r>
              <a:t>Key Engineering Highlights</a:t>
            </a:r>
          </a:p>
          <a:p>
            <a:pPr>
              <a:spcAft>
                <a:spcPts val="800"/>
              </a:spcAft>
              <a:defRPr sz="1300">
                <a:solidFill>
                  <a:srgbClr val="F1F5F9"/>
                </a:solidFill>
              </a:defRPr>
            </a:pPr>
            <a:r>
              <a:t>•  Race-Free Attachment: Child blocks on pipe until parent establishes cgroup limits, preventing unconstrained child execution.</a:t>
            </a:r>
          </a:p>
          <a:p>
            <a:pPr>
              <a:spcAft>
                <a:spcPts val="800"/>
              </a:spcAft>
              <a:defRPr sz="1300">
                <a:solidFill>
                  <a:srgbClr val="F1F5F9"/>
                </a:solidFill>
              </a:defRPr>
            </a:pPr>
            <a:r>
              <a:t>•  VFS Isolation: Mount propagation set to MS_PRIVATE to prevent container mount events from leaking into the host OS.</a:t>
            </a:r>
          </a:p>
          <a:p>
            <a:pPr>
              <a:spcAft>
                <a:spcPts val="800"/>
              </a:spcAft>
              <a:defRPr sz="1300">
                <a:solidFill>
                  <a:srgbClr val="F1F5F9"/>
                </a:solidFill>
              </a:defRPr>
            </a:pPr>
            <a:r>
              <a:t>•  Kernel Accounting: Reads memory.stat upon exit to capture peak RAM, minor page faults, and major page faults.</a:t>
            </a:r>
          </a:p>
          <a:p>
            <a:pPr>
              <a:spcAft>
                <a:spcPts val="800"/>
              </a:spcAft>
              <a:defRPr sz="1300">
                <a:solidFill>
                  <a:srgbClr val="F1F5F9"/>
                </a:solidFill>
              </a:defRPr>
            </a:pPr>
            <a:r>
              <a:t>•  Zero-Dependency: Written entirely in C99 with native POSIX syscalls; runs on any standard Linux kernel 5.x/6.x.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solidFill>
              <a:srgbClr val="0B0F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818CF8"/>
                </a:solidFill>
              </a:defRPr>
            </a:pPr>
            <a:r>
              <a:t>KERNEL SUBSYSTEMS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1F5F9"/>
                </a:solidFill>
              </a:defRPr>
            </a:pPr>
            <a:r>
              <a:t>Core Isolation Primitives in Linux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325880"/>
            <a:ext cx="10698480" cy="18288"/>
          </a:xfrm>
          <a:prstGeom prst="rect">
            <a:avLst/>
          </a:prstGeom>
          <a:solidFill>
            <a:srgbClr val="243354"/>
          </a:solidFill>
          <a:ln>
            <a:solidFill>
              <a:srgbClr val="2433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3383280" cy="4480560"/>
          </a:xfrm>
          <a:prstGeom prst="roundRect">
            <a:avLst/>
          </a:prstGeom>
          <a:solidFill>
            <a:srgbClr val="151D30"/>
          </a:solidFill>
          <a:ln w="19050">
            <a:solidFill>
              <a:srgbClr val="2433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28800"/>
            <a:ext cx="30175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38BDF8"/>
                </a:solidFill>
              </a:defRPr>
            </a:pPr>
            <a:r>
              <a:t>1. Namespaces (Visibility)</a:t>
            </a:r>
          </a:p>
          <a:p>
            <a:pPr>
              <a:spcAft>
                <a:spcPts val="800"/>
              </a:spcAft>
              <a:defRPr sz="1300">
                <a:solidFill>
                  <a:srgbClr val="F1F5F9"/>
                </a:solidFill>
              </a:defRPr>
            </a:pPr>
            <a:r>
              <a:t>•  What the process can SEE.</a:t>
            </a:r>
          </a:p>
          <a:p>
            <a:pPr>
              <a:spcAft>
                <a:spcPts val="800"/>
              </a:spcAft>
              <a:defRPr sz="1300">
                <a:solidFill>
                  <a:srgbClr val="F1F5F9"/>
                </a:solidFill>
              </a:defRPr>
            </a:pPr>
            <a:r>
              <a:t>•  CLONE_NEWPID: Child becomes PID 1; host processes hidden.</a:t>
            </a:r>
          </a:p>
          <a:p>
            <a:pPr>
              <a:spcAft>
                <a:spcPts val="800"/>
              </a:spcAft>
              <a:defRPr sz="1300">
                <a:solidFill>
                  <a:srgbClr val="F1F5F9"/>
                </a:solidFill>
              </a:defRPr>
            </a:pPr>
            <a:r>
              <a:t>•  CLONE_NEWUTS: Independent hostname without altering host OS.</a:t>
            </a:r>
          </a:p>
          <a:p>
            <a:pPr>
              <a:spcAft>
                <a:spcPts val="800"/>
              </a:spcAft>
              <a:defRPr sz="1300">
                <a:solidFill>
                  <a:srgbClr val="F1F5F9"/>
                </a:solidFill>
              </a:defRPr>
            </a:pPr>
            <a:r>
              <a:t>•  CLONE_NEWNS: Decouples VFS mount table.</a:t>
            </a:r>
          </a:p>
          <a:p>
            <a:pPr>
              <a:spcAft>
                <a:spcPts val="800"/>
              </a:spcAft>
              <a:defRPr sz="1300">
                <a:solidFill>
                  <a:srgbClr val="F1F5F9"/>
                </a:solidFill>
              </a:defRPr>
            </a:pPr>
            <a:r>
              <a:t>•  CLONE_NEWIPC: Separate System V / POSIX IPC queues.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1645920"/>
            <a:ext cx="3383280" cy="4480560"/>
          </a:xfrm>
          <a:prstGeom prst="roundRect">
            <a:avLst/>
          </a:prstGeom>
          <a:solidFill>
            <a:srgbClr val="151D30"/>
          </a:solidFill>
          <a:ln w="19050">
            <a:solidFill>
              <a:srgbClr val="2433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0" y="1828800"/>
            <a:ext cx="30175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818CF8"/>
                </a:solidFill>
              </a:defRPr>
            </a:pPr>
            <a:r>
              <a:t>2. Cgroups v2 (Resources)</a:t>
            </a:r>
          </a:p>
          <a:p>
            <a:pPr>
              <a:spcAft>
                <a:spcPts val="800"/>
              </a:spcAft>
              <a:defRPr sz="1300">
                <a:solidFill>
                  <a:srgbClr val="F1F5F9"/>
                </a:solidFill>
              </a:defRPr>
            </a:pPr>
            <a:r>
              <a:t>•  What the process can USE.</a:t>
            </a:r>
          </a:p>
          <a:p>
            <a:pPr>
              <a:spcAft>
                <a:spcPts val="800"/>
              </a:spcAft>
              <a:defRPr sz="1300">
                <a:solidFill>
                  <a:srgbClr val="F1F5F9"/>
                </a:solidFill>
              </a:defRPr>
            </a:pPr>
            <a:r>
              <a:t>•  memory.max: Strict RAM ceiling; triggers kernel OOM Killer.</a:t>
            </a:r>
          </a:p>
          <a:p>
            <a:pPr>
              <a:spcAft>
                <a:spcPts val="800"/>
              </a:spcAft>
              <a:defRPr sz="1300">
                <a:solidFill>
                  <a:srgbClr val="F1F5F9"/>
                </a:solidFill>
              </a:defRPr>
            </a:pPr>
            <a:r>
              <a:t>•  cpu.max: CFS scheduler bandwidth quota (e.g. 40% cap).</a:t>
            </a:r>
          </a:p>
          <a:p>
            <a:pPr>
              <a:spcAft>
                <a:spcPts val="800"/>
              </a:spcAft>
              <a:defRPr sz="1300">
                <a:solidFill>
                  <a:srgbClr val="F1F5F9"/>
                </a:solidFill>
              </a:defRPr>
            </a:pPr>
            <a:r>
              <a:t>•  cpu.weight: Proportional fair-share scheduling (1-10000).</a:t>
            </a:r>
          </a:p>
          <a:p>
            <a:pPr>
              <a:spcAft>
                <a:spcPts val="800"/>
              </a:spcAft>
              <a:defRPr sz="1300">
                <a:solidFill>
                  <a:srgbClr val="F1F5F9"/>
                </a:solidFill>
              </a:defRPr>
            </a:pPr>
            <a:r>
              <a:t>•  pids.max: Prevents fork bomb process exhaustion.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46720" y="1645920"/>
            <a:ext cx="3383280" cy="4480560"/>
          </a:xfrm>
          <a:prstGeom prst="roundRect">
            <a:avLst/>
          </a:prstGeom>
          <a:solidFill>
            <a:srgbClr val="151D30"/>
          </a:solidFill>
          <a:ln w="19050">
            <a:solidFill>
              <a:srgbClr val="2433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0" y="1828800"/>
            <a:ext cx="30175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34D399"/>
                </a:solidFill>
              </a:defRPr>
            </a:pPr>
            <a:r>
              <a:t>3. Rootfs Sandboxing</a:t>
            </a:r>
          </a:p>
          <a:p>
            <a:pPr>
              <a:spcAft>
                <a:spcPts val="800"/>
              </a:spcAft>
              <a:defRPr sz="1300">
                <a:solidFill>
                  <a:srgbClr val="F1F5F9"/>
                </a:solidFill>
              </a:defRPr>
            </a:pPr>
            <a:r>
              <a:t>•  Where the process can TOUCH.</a:t>
            </a:r>
          </a:p>
          <a:p>
            <a:pPr>
              <a:spcAft>
                <a:spcPts val="800"/>
              </a:spcAft>
              <a:defRPr sz="1300">
                <a:solidFill>
                  <a:srgbClr val="F1F5F9"/>
                </a:solidFill>
              </a:defRPr>
            </a:pPr>
            <a:r>
              <a:t>•  Alpine Linux Rootfs: Lightweight ~3.5MB userland.</a:t>
            </a:r>
          </a:p>
          <a:p>
            <a:pPr>
              <a:spcAft>
                <a:spcPts val="800"/>
              </a:spcAft>
              <a:defRPr sz="1300">
                <a:solidFill>
                  <a:srgbClr val="F1F5F9"/>
                </a:solidFill>
              </a:defRPr>
            </a:pPr>
            <a:r>
              <a:t>•  chroot(): Cages process inside container directory tree.</a:t>
            </a:r>
          </a:p>
          <a:p>
            <a:pPr>
              <a:spcAft>
                <a:spcPts val="800"/>
              </a:spcAft>
              <a:defRPr sz="1300">
                <a:solidFill>
                  <a:srgbClr val="F1F5F9"/>
                </a:solidFill>
              </a:defRPr>
            </a:pPr>
            <a:r>
              <a:t>•  Private /proc: Pseudo-filesystem isolated to container PID 1.</a:t>
            </a:r>
          </a:p>
          <a:p>
            <a:pPr>
              <a:spcAft>
                <a:spcPts val="800"/>
              </a:spcAft>
              <a:defRPr sz="1300">
                <a:solidFill>
                  <a:srgbClr val="F1F5F9"/>
                </a:solidFill>
              </a:defRPr>
            </a:pPr>
            <a:r>
              <a:t>•  Prevents host directory traversal.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solidFill>
              <a:srgbClr val="0B0F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818CF8"/>
                </a:solidFill>
              </a:defRPr>
            </a:pPr>
            <a:r>
              <a:t>LABORATORY BENCHMARKS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1F5F9"/>
                </a:solidFill>
              </a:defRPr>
            </a:pPr>
            <a:r>
              <a:t>Empirical Results &amp; Live Verification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325880"/>
            <a:ext cx="10698480" cy="18288"/>
          </a:xfrm>
          <a:prstGeom prst="rect">
            <a:avLst/>
          </a:prstGeom>
          <a:solidFill>
            <a:srgbClr val="243354"/>
          </a:solidFill>
          <a:ln>
            <a:solidFill>
              <a:srgbClr val="2433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5120640" cy="2148840"/>
          </a:xfrm>
          <a:prstGeom prst="roundRect">
            <a:avLst/>
          </a:prstGeom>
          <a:solidFill>
            <a:srgbClr val="151D30"/>
          </a:solidFill>
          <a:ln w="19050">
            <a:solidFill>
              <a:srgbClr val="2433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28800"/>
            <a:ext cx="475488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38BDF8"/>
                </a:solidFill>
              </a:defRPr>
            </a:pPr>
            <a:r>
              <a:t>1. PID &amp; Hostname Isolation (CO: 1 &amp; 5)</a:t>
            </a:r>
          </a:p>
          <a:p>
            <a:pPr>
              <a:spcAft>
                <a:spcPts val="800"/>
              </a:spcAft>
              <a:defRPr sz="1300">
                <a:solidFill>
                  <a:srgbClr val="F1F5F9"/>
                </a:solidFill>
              </a:defRPr>
            </a:pPr>
            <a:r>
              <a:t>•  Command: sudo ./minicontainer run ./tests/test_info</a:t>
            </a:r>
          </a:p>
          <a:p>
            <a:pPr>
              <a:spcAft>
                <a:spcPts val="800"/>
              </a:spcAft>
              <a:defRPr sz="1300">
                <a:solidFill>
                  <a:srgbClr val="F1F5F9"/>
                </a:solidFill>
              </a:defRPr>
            </a:pPr>
            <a:r>
              <a:t>•  Result: Child reports PID = 1; Parent PID = 0.</a:t>
            </a:r>
          </a:p>
          <a:p>
            <a:pPr>
              <a:spcAft>
                <a:spcPts val="800"/>
              </a:spcAft>
              <a:defRPr sz="1300">
                <a:solidFill>
                  <a:srgbClr val="F1F5F9"/>
                </a:solidFill>
              </a:defRPr>
            </a:pPr>
            <a:r>
              <a:t>•  Host processes (47 running) are completely hidden.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645920"/>
            <a:ext cx="5120640" cy="2148840"/>
          </a:xfrm>
          <a:prstGeom prst="roundRect">
            <a:avLst/>
          </a:prstGeom>
          <a:solidFill>
            <a:srgbClr val="151D30"/>
          </a:solidFill>
          <a:ln w="19050">
            <a:solidFill>
              <a:srgbClr val="2433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1828800"/>
            <a:ext cx="475488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F59E0B"/>
                </a:solidFill>
              </a:defRPr>
            </a:pPr>
            <a:r>
              <a:t>2. Memory Limit &amp; OOM Killer (CO: 4)</a:t>
            </a:r>
          </a:p>
          <a:p>
            <a:pPr>
              <a:spcAft>
                <a:spcPts val="800"/>
              </a:spcAft>
              <a:defRPr sz="1300">
                <a:solidFill>
                  <a:srgbClr val="F1F5F9"/>
                </a:solidFill>
              </a:defRPr>
            </a:pPr>
            <a:r>
              <a:t>•  Command: sudo ./minicontainer run --memory 30M ./tests/test_memory 60</a:t>
            </a:r>
          </a:p>
          <a:p>
            <a:pPr>
              <a:spcAft>
                <a:spcPts val="800"/>
              </a:spcAft>
              <a:defRPr sz="1300">
                <a:solidFill>
                  <a:srgbClr val="F1F5F9"/>
                </a:solidFill>
              </a:defRPr>
            </a:pPr>
            <a:r>
              <a:t>•  Result: Process terminated by SIGKILL (signal 9).</a:t>
            </a:r>
          </a:p>
          <a:p>
            <a:pPr>
              <a:spcAft>
                <a:spcPts val="800"/>
              </a:spcAft>
              <a:defRPr sz="1300">
                <a:solidFill>
                  <a:srgbClr val="F1F5F9"/>
                </a:solidFill>
              </a:defRPr>
            </a:pPr>
            <a:r>
              <a:t>•  Recorded 7,705 Minor Page Faults proving Demand Paging!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977639"/>
            <a:ext cx="5120640" cy="2148840"/>
          </a:xfrm>
          <a:prstGeom prst="roundRect">
            <a:avLst/>
          </a:prstGeom>
          <a:solidFill>
            <a:srgbClr val="151D30"/>
          </a:solidFill>
          <a:ln w="19050">
            <a:solidFill>
              <a:srgbClr val="2433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4160519"/>
            <a:ext cx="475488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818CF8"/>
                </a:solidFill>
              </a:defRPr>
            </a:pPr>
            <a:r>
              <a:t>3. CPU Fair-Share Contest (CO: 2)</a:t>
            </a:r>
          </a:p>
          <a:p>
            <a:pPr>
              <a:spcAft>
                <a:spcPts val="800"/>
              </a:spcAft>
              <a:defRPr sz="1300">
                <a:solidFill>
                  <a:srgbClr val="F1F5F9"/>
                </a:solidFill>
              </a:defRPr>
            </a:pPr>
            <a:r>
              <a:t>•  Command: sudo bash scripts/test_cpu_shares.sh</a:t>
            </a:r>
          </a:p>
          <a:p>
            <a:pPr>
              <a:spcAft>
                <a:spcPts val="800"/>
              </a:spcAft>
              <a:defRPr sz="1300">
                <a:solidFill>
                  <a:srgbClr val="F1F5F9"/>
                </a:solidFill>
              </a:defRPr>
            </a:pPr>
            <a:r>
              <a:t>•  Result: Contest on Core 0 with Weights 800 vs 200.</a:t>
            </a:r>
          </a:p>
          <a:p>
            <a:pPr>
              <a:spcAft>
                <a:spcPts val="800"/>
              </a:spcAft>
              <a:defRPr sz="1300">
                <a:solidFill>
                  <a:srgbClr val="F1F5F9"/>
                </a:solidFill>
              </a:defRPr>
            </a:pPr>
            <a:r>
              <a:t>•  CPU Time: 2.78s vs 0.69s -&gt; Exact 4.02 : 1 execution ratio!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3977639"/>
            <a:ext cx="5120640" cy="2148840"/>
          </a:xfrm>
          <a:prstGeom prst="roundRect">
            <a:avLst/>
          </a:prstGeom>
          <a:solidFill>
            <a:srgbClr val="151D30"/>
          </a:solidFill>
          <a:ln w="19050">
            <a:solidFill>
              <a:srgbClr val="2433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0" y="4160519"/>
            <a:ext cx="475488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34D399"/>
                </a:solidFill>
              </a:defRPr>
            </a:pPr>
            <a:r>
              <a:t>4. Concurrency &amp; Semaphores (CO: 3)</a:t>
            </a:r>
          </a:p>
          <a:p>
            <a:pPr>
              <a:spcAft>
                <a:spcPts val="800"/>
              </a:spcAft>
              <a:defRPr sz="1300">
                <a:solidFill>
                  <a:srgbClr val="F1F5F9"/>
                </a:solidFill>
              </a:defRPr>
            </a:pPr>
            <a:r>
              <a:t>•  Command: sudo ./minicontainer run ./tests/test_ipc_sync</a:t>
            </a:r>
          </a:p>
          <a:p>
            <a:pPr>
              <a:spcAft>
                <a:spcPts val="800"/>
              </a:spcAft>
              <a:defRPr sz="1300">
                <a:solidFill>
                  <a:srgbClr val="F1F5F9"/>
                </a:solidFill>
              </a:defRPr>
            </a:pPr>
            <a:r>
              <a:t>•  Result: 10 items exchanged via sem_t (mutex, empty, full).</a:t>
            </a:r>
          </a:p>
          <a:p>
            <a:pPr>
              <a:spcAft>
                <a:spcPts val="800"/>
              </a:spcAft>
              <a:defRPr sz="1300">
                <a:solidFill>
                  <a:srgbClr val="F1F5F9"/>
                </a:solidFill>
              </a:defRPr>
            </a:pPr>
            <a:r>
              <a:t>•  Shared memory ring buffer executed with zero race conditions.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solidFill>
              <a:srgbClr val="0B0F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818CF8"/>
                </a:solidFill>
              </a:defRPr>
            </a:pPr>
            <a:r>
              <a:t>EVALUATOR Q&amp;A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1F5F9"/>
                </a:solidFill>
              </a:defRPr>
            </a:pPr>
            <a:r>
              <a:t>Technical Review &amp; Viva Voce Defense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325880"/>
            <a:ext cx="10698480" cy="18288"/>
          </a:xfrm>
          <a:prstGeom prst="rect">
            <a:avLst/>
          </a:prstGeom>
          <a:solidFill>
            <a:srgbClr val="243354"/>
          </a:solidFill>
          <a:ln>
            <a:solidFill>
              <a:srgbClr val="2433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5120640" cy="2148840"/>
          </a:xfrm>
          <a:prstGeom prst="roundRect">
            <a:avLst/>
          </a:prstGeom>
          <a:solidFill>
            <a:srgbClr val="151D30"/>
          </a:solidFill>
          <a:ln w="19050">
            <a:solidFill>
              <a:srgbClr val="2433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28800"/>
            <a:ext cx="475488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38BDF8"/>
                </a:solidFill>
              </a:defRPr>
            </a:pPr>
            <a:r>
              <a:t>Q1: Why clone() instead of fork()?</a:t>
            </a:r>
          </a:p>
          <a:p>
            <a:pPr>
              <a:spcAft>
                <a:spcPts val="800"/>
              </a:spcAft>
              <a:defRPr sz="1300">
                <a:solidFill>
                  <a:srgbClr val="F1F5F9"/>
                </a:solidFill>
              </a:defRPr>
            </a:pPr>
            <a:r>
              <a:t>•  fork() duplicates the process within identical namespaces.</a:t>
            </a:r>
          </a:p>
          <a:p>
            <a:pPr>
              <a:spcAft>
                <a:spcPts val="800"/>
              </a:spcAft>
              <a:defRPr sz="1300">
                <a:solidFill>
                  <a:srgbClr val="F1F5F9"/>
                </a:solidFill>
              </a:defRPr>
            </a:pPr>
            <a:r>
              <a:t>•  clone() accepts flags like CLONE_NEWPID and CLONE_NEWUTS to instantiate the child inside brand-new, isolated kernel namespaces.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645920"/>
            <a:ext cx="5120640" cy="2148840"/>
          </a:xfrm>
          <a:prstGeom prst="roundRect">
            <a:avLst/>
          </a:prstGeom>
          <a:solidFill>
            <a:srgbClr val="151D30"/>
          </a:solidFill>
          <a:ln w="19050">
            <a:solidFill>
              <a:srgbClr val="2433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1828800"/>
            <a:ext cx="475488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818CF8"/>
                </a:solidFill>
              </a:defRPr>
            </a:pPr>
            <a:r>
              <a:t>Q2: Why did memory limit trigger SIGKILL?</a:t>
            </a:r>
          </a:p>
          <a:p>
            <a:pPr>
              <a:spcAft>
                <a:spcPts val="800"/>
              </a:spcAft>
              <a:defRPr sz="1300">
                <a:solidFill>
                  <a:srgbClr val="F1F5F9"/>
                </a:solidFill>
              </a:defRPr>
            </a:pPr>
            <a:r>
              <a:t>•  Linux uses optimistic memory overcommit &amp; demand paging.</a:t>
            </a:r>
          </a:p>
          <a:p>
            <a:pPr>
              <a:spcAft>
                <a:spcPts val="800"/>
              </a:spcAft>
              <a:defRPr sz="1300">
                <a:solidFill>
                  <a:srgbClr val="F1F5F9"/>
                </a:solidFill>
              </a:defRPr>
            </a:pPr>
            <a:r>
              <a:t>•  When memset() committed physical pages exceeding memory.max with swap disabled, the kernel OOM Killer dispatched SIGKILL.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977639"/>
            <a:ext cx="5120640" cy="2148840"/>
          </a:xfrm>
          <a:prstGeom prst="roundRect">
            <a:avLst/>
          </a:prstGeom>
          <a:solidFill>
            <a:srgbClr val="151D30"/>
          </a:solidFill>
          <a:ln w="19050">
            <a:solidFill>
              <a:srgbClr val="2433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4160519"/>
            <a:ext cx="475488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34D399"/>
                </a:solidFill>
              </a:defRPr>
            </a:pPr>
            <a:r>
              <a:t>Q3: Why is an IPC pipe needed between parent &amp; child?</a:t>
            </a:r>
          </a:p>
          <a:p>
            <a:pPr>
              <a:spcAft>
                <a:spcPts val="800"/>
              </a:spcAft>
              <a:defRPr sz="1300">
                <a:solidFill>
                  <a:srgbClr val="F1F5F9"/>
                </a:solidFill>
              </a:defRPr>
            </a:pPr>
            <a:r>
              <a:t>•  To eliminate a critical race condition. The child must not call execvp() before the parent finishes creating cgroups and attaching the child's PID.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3977639"/>
            <a:ext cx="5120640" cy="2148840"/>
          </a:xfrm>
          <a:prstGeom prst="roundRect">
            <a:avLst/>
          </a:prstGeom>
          <a:solidFill>
            <a:srgbClr val="151D30"/>
          </a:solidFill>
          <a:ln w="19050">
            <a:solidFill>
              <a:srgbClr val="2433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0" y="4160519"/>
            <a:ext cx="475488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38BDF8"/>
                </a:solidFill>
              </a:defRPr>
            </a:pPr>
            <a:r>
              <a:t>Q4: How did you prove CPU scheduling fairness?</a:t>
            </a:r>
          </a:p>
          <a:p>
            <a:pPr>
              <a:spcAft>
                <a:spcPts val="800"/>
              </a:spcAft>
              <a:defRPr sz="1300">
                <a:solidFill>
                  <a:srgbClr val="F1F5F9"/>
                </a:solidFill>
              </a:defRPr>
            </a:pPr>
            <a:r>
              <a:t>•  Two containers with CFS weights 800 vs 200 ran concurrently on CPU 0. CFS allocated 2.78s and 0.69s, verifying the theoretical 4:1 ratio with 99.5% accuracy.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solidFill>
              <a:srgbClr val="0B0F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114800" y="1097280"/>
            <a:ext cx="3959352" cy="411480"/>
          </a:xfrm>
          <a:prstGeom prst="roundRect">
            <a:avLst/>
          </a:prstGeom>
          <a:solidFill>
            <a:srgbClr val="0F233C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38BDF8"/>
                </a:solidFill>
              </a:defRPr>
            </a:pPr>
            <a:r>
              <a:t>EVALUATION DASHBOARD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645920"/>
            <a:ext cx="10360152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38BDF8"/>
                </a:solidFill>
              </a:defRPr>
            </a:pPr>
            <a:r>
              <a:t>Ready for Live Demonstration</a:t>
            </a:r>
          </a:p>
          <a:p>
            <a:pPr algn="ctr">
              <a:spcBef>
                <a:spcPts val="800"/>
              </a:spcBef>
              <a:defRPr sz="1600">
                <a:solidFill>
                  <a:srgbClr val="94A3B8"/>
                </a:solidFill>
              </a:defRPr>
            </a:pPr>
            <a:r>
              <a:t>Complete C Runtime Covering CO: 1 to CO: 5 with Master Interactive Menu and Real-Time Kernel Metrics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926080" y="3200400"/>
            <a:ext cx="6336792" cy="1097280"/>
          </a:xfrm>
          <a:prstGeom prst="roundRect">
            <a:avLst/>
          </a:prstGeom>
          <a:solidFill>
            <a:srgbClr val="090D16"/>
          </a:solidFill>
          <a:ln w="254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200" b="1">
                <a:solidFill>
                  <a:srgbClr val="38BDF8"/>
                </a:solidFill>
              </a:defRPr>
            </a:pPr>
            <a:r>
              <a:t>$ sudo bash interactive_menu.sh</a:t>
            </a:r>
          </a:p>
          <a:p>
            <a:pPr algn="ctr">
              <a:defRPr sz="1200">
                <a:solidFill>
                  <a:srgbClr val="94A3B8"/>
                </a:solidFill>
              </a:defRPr>
            </a:pPr>
            <a:r>
              <a:t>(Or double-click Run-MiniContainer.bat on Windows Desktop)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572000"/>
            <a:ext cx="10360152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F1F5F9"/>
                </a:solidFill>
              </a:defRPr>
            </a:pPr>
            <a:r>
              <a:t>Project Team: Tharakesha M (24BCE2538) &amp; Mathu Metha S (24BCE2805)</a:t>
            </a:r>
          </a:p>
          <a:p>
            <a:pPr algn="ctr">
              <a:spcBef>
                <a:spcPts val="600"/>
              </a:spcBef>
              <a:defRPr sz="1400">
                <a:solidFill>
                  <a:srgbClr val="818CF8"/>
                </a:solidFill>
              </a:defRPr>
            </a:pPr>
            <a:r>
              <a:t>GitHub Repository: https://github.com/THARAKESHA/mini-container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